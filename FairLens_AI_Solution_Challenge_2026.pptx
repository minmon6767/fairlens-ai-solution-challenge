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Google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GoogleSans-regular.fntdata"/><Relationship Id="rId21" Type="http://schemas.openxmlformats.org/officeDocument/2006/relationships/slide" Target="slides/slide15.xml"/><Relationship Id="rId24" Type="http://schemas.openxmlformats.org/officeDocument/2006/relationships/font" Target="fonts/GoogleSans-italic.fntdata"/><Relationship Id="rId23" Type="http://schemas.openxmlformats.org/officeDocument/2006/relationships/font" Target="fonts/GoogleSans-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font" Target="fonts/Google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07f7ad1a1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c07f7ad1a1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07f7ad1a1_2_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c07f7ad1a1_2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07f7ad1a1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c07f7ad1a1_2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07f7ad1a1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c07f7ad1a1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07f7ad1a1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c07f7ad1a1_2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07f7ad1a1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c07f7ad1a1_2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07f7ad1a1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c07f7ad1a1_2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07f7ad1a1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c07f7ad1a1_2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07f7ad1a1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c07f7ad1a1_2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07f7ad1a1_2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c07f7ad1a1_2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07f7ad1a1_2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c07f7ad1a1_2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07f7ad1a1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c07f7ad1a1_2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07f7ad1a1_2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c07f7ad1a1_2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07f7ad1a1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c07f7ad1a1_2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07f7ad1a1_2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c07f7ad1a1_2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nvSpPr>
        <p:spPr>
          <a:xfrm>
            <a:off x="436625" y="8810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1" i="0" lang="en-GB" sz="4000" u="none" cap="none" strike="noStrike">
                <a:solidFill>
                  <a:schemeClr val="accent1"/>
                </a:solidFill>
                <a:latin typeface="Google Sans"/>
                <a:ea typeface="Google Sans"/>
                <a:cs typeface="Google Sans"/>
                <a:sym typeface="Google Sans"/>
              </a:rPr>
              <a:t>Guidelines</a:t>
            </a:r>
            <a:endParaRPr b="1" i="0" sz="4000" u="none" cap="none" strike="noStrike">
              <a:solidFill>
                <a:schemeClr val="accent1"/>
              </a:solidFill>
              <a:latin typeface="Google Sans"/>
              <a:ea typeface="Google Sans"/>
              <a:cs typeface="Google Sans"/>
              <a:sym typeface="Google Sans"/>
            </a:endParaRPr>
          </a:p>
        </p:txBody>
      </p:sp>
      <p:sp>
        <p:nvSpPr>
          <p:cNvPr id="100" name="Google Shape;100;p25"/>
          <p:cNvSpPr txBox="1"/>
          <p:nvPr/>
        </p:nvSpPr>
        <p:spPr>
          <a:xfrm>
            <a:off x="609900" y="1711275"/>
            <a:ext cx="7924200" cy="25512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 xml:space="preserve">Kindly use the given template for submitting your </a:t>
            </a:r>
            <a:r>
              <a:rPr lang="en-GB" sz="1500">
                <a:solidFill>
                  <a:srgbClr val="434343"/>
                </a:solidFill>
                <a:latin typeface="Google Sans"/>
                <a:ea typeface="Google Sans"/>
                <a:cs typeface="Google Sans"/>
                <a:sym typeface="Google Sans"/>
              </a:rPr>
              <a:t>prototype</a:t>
            </a:r>
            <a:r>
              <a:rPr b="0" i="0" lang="en-GB" sz="1500" u="none" cap="none" strike="noStrike">
                <a:solidFill>
                  <a:srgbClr val="434343"/>
                </a:solidFill>
                <a:latin typeface="Google Sans"/>
                <a:ea typeface="Google Sans"/>
                <a:cs typeface="Google Sans"/>
                <a:sym typeface="Google Sans"/>
              </a:rPr>
              <a:t>(Make a copy of the template)</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One team is only required to submit one project.</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lang="en-GB" sz="1500">
                <a:solidFill>
                  <a:srgbClr val="434343"/>
                </a:solidFill>
                <a:latin typeface="Google Sans"/>
                <a:ea typeface="Google Sans"/>
                <a:cs typeface="Google Sans"/>
                <a:sym typeface="Google Sans"/>
              </a:rPr>
              <a:t>Follow this template while preparing your presentation.</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You are welcome to add as many POCs and design concepts to support your project.</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The project should be feasible and the team members should be capable enough, to come up with the fully functioning prototype of the same idea, if required.</a:t>
            </a:r>
            <a:endParaRPr b="0" i="0" sz="1500" u="none" cap="none" strike="noStrike">
              <a:solidFill>
                <a:srgbClr val="434343"/>
              </a:solidFill>
              <a:latin typeface="Google Sans"/>
              <a:ea typeface="Google Sans"/>
              <a:cs typeface="Google Sans"/>
              <a:sym typeface="Google Sans"/>
            </a:endParaRPr>
          </a:p>
          <a:p>
            <a:pPr indent="-323850" lvl="0" marL="457200" marR="0" rtl="0" algn="l">
              <a:lnSpc>
                <a:spcPct val="100000"/>
              </a:lnSpc>
              <a:spcBef>
                <a:spcPts val="0"/>
              </a:spcBef>
              <a:spcAft>
                <a:spcPts val="0"/>
              </a:spcAft>
              <a:buClr>
                <a:srgbClr val="434343"/>
              </a:buClr>
              <a:buSzPts val="1500"/>
              <a:buFont typeface="Google Sans"/>
              <a:buChar char="●"/>
            </a:pPr>
            <a:r>
              <a:rPr b="0" i="0" lang="en-GB" sz="1500" u="none" cap="none" strike="noStrike">
                <a:solidFill>
                  <a:srgbClr val="434343"/>
                </a:solidFill>
                <a:latin typeface="Google Sans"/>
                <a:ea typeface="Google Sans"/>
                <a:cs typeface="Google Sans"/>
                <a:sym typeface="Google Sans"/>
              </a:rPr>
              <a:t xml:space="preserve">In case of queries, kindly reach out to us at </a:t>
            </a:r>
            <a:r>
              <a:rPr lang="en-GB" sz="1500">
                <a:solidFill>
                  <a:srgbClr val="434343"/>
                </a:solidFill>
                <a:latin typeface="Google Sans"/>
                <a:ea typeface="Google Sans"/>
                <a:cs typeface="Google Sans"/>
                <a:sym typeface="Google Sans"/>
              </a:rPr>
              <a:t>solutionchallengesupport@hack2skill.com</a:t>
            </a:r>
            <a:endParaRPr b="0" i="0" sz="1500" u="none" cap="none" strike="noStrike">
              <a:solidFill>
                <a:srgbClr val="434343"/>
              </a:solidFill>
              <a:latin typeface="Google Sans"/>
              <a:ea typeface="Google Sans"/>
              <a:cs typeface="Google Sans"/>
              <a:sym typeface="Google Sans"/>
            </a:endParaRPr>
          </a:p>
        </p:txBody>
      </p:sp>
      <p:pic>
        <p:nvPicPr>
          <p:cNvPr id="101" name="Google Shape;101;p25"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02" name="Google Shape;102;p25"/>
          <p:cNvSpPr txBox="1"/>
          <p:nvPr/>
        </p:nvSpPr>
        <p:spPr>
          <a:xfrm>
            <a:off x="65700" y="3897125"/>
            <a:ext cx="901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rgbClr val="FF0000"/>
                </a:solidFill>
                <a:latin typeface="Google Sans"/>
                <a:ea typeface="Google Sans"/>
                <a:cs typeface="Google Sans"/>
                <a:sym typeface="Google Sans"/>
              </a:rPr>
              <a:t>Note:</a:t>
            </a:r>
            <a:r>
              <a:rPr lang="en-GB" sz="1500">
                <a:solidFill>
                  <a:srgbClr val="434343"/>
                </a:solidFill>
                <a:latin typeface="Google Sans"/>
                <a:ea typeface="Google Sans"/>
                <a:cs typeface="Google Sans"/>
                <a:sym typeface="Google Sans"/>
              </a:rPr>
              <a:t xml:space="preserve"> Prototype must include cloud deployment and use at least one Google AI model or service (e.g., Gemini) as part of the solution.</a:t>
            </a:r>
            <a:endParaRPr sz="1500">
              <a:solidFill>
                <a:srgbClr val="434343"/>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08" name="Google Shape;108;p26"/>
          <p:cNvPicPr preferRelativeResize="0"/>
          <p:nvPr/>
        </p:nvPicPr>
        <p:blipFill rotWithShape="1">
          <a:blip r:embed="rId3">
            <a:alphaModFix/>
          </a:blip>
          <a:srcRect b="0" l="0" r="0"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Google Sans"/>
                <a:ea typeface="Google Sans"/>
                <a:cs typeface="Google Sans"/>
                <a:sym typeface="Google Sans"/>
              </a:rPr>
              <a:t>Team Details</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1" i="0" lang="en-GB" sz="1800" u="none" cap="none" strike="noStrike">
                <a:solidFill>
                  <a:srgbClr val="000000"/>
                </a:solidFill>
                <a:latin typeface="Google Sans"/>
                <a:ea typeface="Google Sans"/>
                <a:cs typeface="Google Sans"/>
                <a:sym typeface="Google Sans"/>
              </a:rPr>
              <a:t>Team name: InnovatorsX</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1" i="0" lang="en-GB" sz="1800" u="none" cap="none" strike="noStrike">
                <a:solidFill>
                  <a:srgbClr val="000000"/>
                </a:solidFill>
                <a:latin typeface="Google Sans"/>
                <a:ea typeface="Google Sans"/>
                <a:cs typeface="Google Sans"/>
                <a:sym typeface="Google Sans"/>
              </a:rPr>
              <a:t>Team leader name: Alex Morgan</a:t>
            </a:r>
            <a:endParaRPr b="1" i="0" sz="1800" u="none" cap="none" strike="noStrike">
              <a:solidFill>
                <a:srgbClr val="000000"/>
              </a:solidFill>
              <a:latin typeface="Google Sans"/>
              <a:ea typeface="Google Sans"/>
              <a:cs typeface="Google Sans"/>
              <a:sym typeface="Google Sans"/>
            </a:endParaRPr>
          </a:p>
          <a:p>
            <a:pPr indent="-342900" lvl="1" marL="914400" marR="0" rtl="0" algn="l">
              <a:lnSpc>
                <a:spcPct val="100000"/>
              </a:lnSpc>
              <a:spcBef>
                <a:spcPts val="0"/>
              </a:spcBef>
              <a:spcAft>
                <a:spcPts val="0"/>
              </a:spcAft>
              <a:buClr>
                <a:srgbClr val="000000"/>
              </a:buClr>
              <a:buSzPts val="1800"/>
              <a:buFont typeface="Google Sans"/>
              <a:buAutoNum type="alphaLcPeriod"/>
            </a:pPr>
            <a:r>
              <a:rPr b="1" i="0" lang="en-GB" sz="1800" u="none" cap="none" strike="noStrike">
                <a:solidFill>
                  <a:srgbClr val="000000"/>
                </a:solidFill>
                <a:latin typeface="Google Sans"/>
                <a:ea typeface="Google Sans"/>
                <a:cs typeface="Google Sans"/>
                <a:sym typeface="Google Sans"/>
              </a:rPr>
              <a:t>Problem Statement: AI systems in hiring, lending, and healthcare embed historical biases, producing discriminatory outcomes that disproportionately harm minority groups — with no transparency or recourse for affected individuals.</a:t>
            </a:r>
            <a:endParaRPr b="1"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b="0" l="0" r="0" t="0"/>
          <a:stretch/>
        </p:blipFill>
        <p:spPr>
          <a:xfrm>
            <a:off x="0" y="0"/>
            <a:ext cx="9143997" cy="27592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txBox="1"/>
          <p:nvPr/>
        </p:nvSpPr>
        <p:spPr>
          <a:xfrm>
            <a:off x="85525" y="806350"/>
            <a:ext cx="8943000" cy="42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FairLens AI — Unbiased AI Decision Platform</a:t>
            </a:r>
          </a:p>
          <a:p>
            <a:pPr indent="0" lvl="0" marL="0" marR="0" rtl="0" algn="l">
              <a:lnSpc>
                <a:spcPct val="120000"/>
              </a:lnSpc>
              <a:spcBef>
                <a:spcPts val="600"/>
              </a:spcBef>
              <a:spcAft>
                <a:spcPts val="0"/>
              </a:spcAft>
              <a:buNone/>
            </a:pPr>
            <a:r>
              <a:rPr b="0" i="0" lang="en-GB" sz="1400" u="none" cap="none" strike="noStrike">
                <a:solidFill>
                  <a:srgbClr val="333333"/>
                </a:solidFill>
                <a:latin typeface="Google Sans"/>
              </a:rPr>
              <a:t>FairLens AI is an open-source, cloud-deployed bias detection and mitigation platform that audits AI decision-making systems in real time. Powered by Google Gemini, it identifies demographic disparities in AI outputs, provides explainable AI (XAI) insights, and suggests corrective actions to make AI models fairer, more transparent, and accountable.</a:t>
            </a:r>
          </a:p>
          <a:p>
            <a:pPr indent="0" lvl="0" marL="0" marR="0" rtl="0" algn="l">
              <a:lnSpc>
                <a:spcPct val="120000"/>
              </a:lnSpc>
              <a:spcBef>
                <a:spcPts val="600"/>
              </a:spcBef>
              <a:spcAft>
                <a:spcPts val="0"/>
              </a:spcAft>
              <a:buNone/>
            </a:pPr>
            <a:r>
              <a:rPr b="1" i="0" lang="en-GB" sz="1400" u="none" cap="none" strike="noStrike">
                <a:solidFill>
                  <a:srgbClr val="1a73e8"/>
                </a:solidFill>
                <a:latin typeface="Google Sans"/>
              </a:rPr>
              <a:t>Target Domains:</a:t>
            </a:r>
            <a:r>
              <a:rPr b="0" i="0" lang="en-GB" sz="1400" u="none" cap="none" strike="noStrike">
                <a:solidFill>
                  <a:srgbClr val="333333"/>
                </a:solidFill>
                <a:latin typeface="Google Sans"/>
              </a:rPr>
              <a:t xml:space="preserve"> Hiring &amp; Recruitment | Credit &amp; Lending | Healthcare Diagnostics | Criminal Justice</a:t>
            </a:r>
          </a:p>
          <a:p>
            <a:pPr indent="0" lvl="0" marL="0" marR="0" rtl="0" algn="l">
              <a:lnSpc>
                <a:spcPct val="120000"/>
              </a:lnSpc>
              <a:spcBef>
                <a:spcPts val="600"/>
              </a:spcBef>
              <a:spcAft>
                <a:spcPts val="0"/>
              </a:spcAft>
              <a:buNone/>
            </a:pPr>
            <a:r>
              <a:rPr b="1" i="0" lang="en-GB" sz="1400" u="none" cap="none" strike="noStrike">
                <a:solidFill>
                  <a:srgbClr val="1a73e8"/>
                </a:solidFill>
                <a:latin typeface="Google Sans"/>
              </a:rPr>
              <a:t>Key Stat:</a:t>
            </a:r>
            <a:r>
              <a:rPr b="0" i="0" lang="en-GB" sz="1400" u="none" cap="none" strike="noStrike">
                <a:solidFill>
                  <a:srgbClr val="333333"/>
                </a:solidFill>
                <a:latin typeface="Google Sans"/>
              </a:rPr>
              <a:t xml:space="preserve"> 78% of AI hiring tools show measurable gender or racial bias (MIT, 2024). FairLens AI eliminates this blind spot.</a:t>
            </a:r>
            <a:endParaRPr b="0" i="0" sz="1800" u="none" cap="none" strike="noStrike">
              <a:solidFill>
                <a:srgbClr val="000000"/>
              </a:solidFill>
              <a:latin typeface="Google Sans"/>
              <a:ea typeface="Google Sans"/>
              <a:cs typeface="Google Sans"/>
              <a:sym typeface="Google Sans"/>
            </a:endParaRP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Opportunities — Why FairLens AI?</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How is it different? Existing tools like IBM AI Fairness 360 are developer-only SDKs requiring deep ML expertise. FairLens AI offers a no-code web dashboard, real-time bias scoring, and Gemini-powered natural language explanations — accessible to HR teams, compliance officers, and non-technical stakeholders.</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How does it solve the problem? FairLens AI connects to any AI system via REST API, runs fairness audits using 10+ bias metrics (demographic parity, equalized odds, disparate impact), and uses Gemini to generate plain-language reports with ranked mitigation recommendations.</a:t>
            </a:r>
            <a:endParaRPr b="0" i="0" sz="1800" u="none" cap="none" strike="noStrike">
              <a:solidFill>
                <a:srgbClr val="000000"/>
              </a:solidFill>
              <a:latin typeface="Google Sans"/>
              <a:ea typeface="Google Sans"/>
              <a:cs typeface="Google Sans"/>
              <a:sym typeface="Google Sans"/>
            </a:endParaRPr>
          </a:p>
          <a:p>
            <a:pPr indent="-342900" lvl="1" marL="914400" marR="0" rtl="0" algn="l">
              <a:lnSpc>
                <a:spcPct val="115000"/>
              </a:lnSpc>
              <a:spcBef>
                <a:spcPts val="0"/>
              </a:spcBef>
              <a:spcAft>
                <a:spcPts val="0"/>
              </a:spcAft>
              <a:buClr>
                <a:srgbClr val="000000"/>
              </a:buClr>
              <a:buSzPts val="1800"/>
              <a:buFont typeface="Google Sans"/>
              <a:buAutoNum type="alphaLcPeriod"/>
            </a:pPr>
            <a:r>
              <a:rPr b="0" i="0" lang="en-GB" sz="1800" u="none" cap="none" strike="noStrike">
                <a:solidFill>
                  <a:srgbClr val="000000"/>
                </a:solidFill>
                <a:latin typeface="Google Sans"/>
                <a:ea typeface="Google Sans"/>
                <a:cs typeface="Google Sans"/>
                <a:sym typeface="Google Sans"/>
              </a:rPr>
              <a:t>USP: Only platform combining real-time bias detection + Gemini-powered XAI explanations + one-click mitigation suggestions, deployed on GCP Cloud Run with zero infrastructure setup. Open-source, auditable, and compliant with EU AI Act fairness requirements.</a:t>
            </a:r>
            <a:endParaRPr sz="1800">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Google Sans"/>
              <a:ea typeface="Google Sans"/>
              <a:cs typeface="Google Sans"/>
              <a:sym typeface="Google Sans"/>
            </a:endParaRP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Key Features of FairLens AI</a:t>
            </a:r>
          </a:p>
          <a:p>
            <a:pPr indent="0" lvl="0" marL="0" marR="0" rtl="0" algn="l">
              <a:lnSpc>
                <a:spcPct val="115000"/>
              </a:lnSpc>
              <a:spcBef>
                <a:spcPts val="500"/>
              </a:spcBef>
              <a:spcAft>
                <a:spcPts val="0"/>
              </a:spcAft>
              <a:buNone/>
            </a:pPr>
            <a:r>
              <a:rPr b="1" i="0" lang="en-GB" sz="1400" u="none" cap="none" strike="noStrike">
                <a:solidFill>
                  <a:srgbClr val="1a73e8"/>
                </a:solidFill>
                <a:latin typeface="Google Sans"/>
              </a:rPr>
              <a:t>1. Real-Time Bias Audit Dashboard</a:t>
            </a:r>
            <a:r>
              <a:rPr b="0" i="0" lang="en-GB" sz="1300" u="none" cap="none" strike="noStrike">
                <a:solidFill>
                  <a:srgbClr val="333333"/>
                </a:solidFill>
                <a:latin typeface="Google Sans"/>
              </a:rPr>
              <a:t xml:space="preserve"> — Upload model predictions and get instant fairness scores across demographic groups</a:t>
            </a:r>
          </a:p>
          <a:p>
            <a:pPr indent="0" lvl="0" marL="0" marR="0" rtl="0" algn="l">
              <a:lnSpc>
                <a:spcPct val="115000"/>
              </a:lnSpc>
              <a:spcBef>
                <a:spcPts val="500"/>
              </a:spcBef>
              <a:spcAft>
                <a:spcPts val="0"/>
              </a:spcAft>
              <a:buNone/>
            </a:pPr>
            <a:r>
              <a:rPr b="1" i="0" lang="en-GB" sz="1400" u="none" cap="none" strike="noStrike">
                <a:solidFill>
                  <a:srgbClr val="1a73e8"/>
                </a:solidFill>
                <a:latin typeface="Google Sans"/>
              </a:rPr>
              <a:t>2. Gemini-Powered Explainability</a:t>
            </a:r>
            <a:r>
              <a:rPr b="0" i="0" lang="en-GB" sz="1300" u="none" cap="none" strike="noStrike">
                <a:solidFill>
                  <a:srgbClr val="333333"/>
                </a:solidFill>
                <a:latin typeface="Google Sans"/>
              </a:rPr>
              <a:t xml:space="preserve"> — Natural language explanations of why a decision was biased, understandable by non-technical users</a:t>
            </a:r>
          </a:p>
          <a:p>
            <a:pPr indent="0" lvl="0" marL="0" marR="0" rtl="0" algn="l">
              <a:lnSpc>
                <a:spcPct val="115000"/>
              </a:lnSpc>
              <a:spcBef>
                <a:spcPts val="500"/>
              </a:spcBef>
              <a:spcAft>
                <a:spcPts val="0"/>
              </a:spcAft>
              <a:buNone/>
            </a:pPr>
            <a:r>
              <a:rPr b="1" i="0" lang="en-GB" sz="1400" u="none" cap="none" strike="noStrike">
                <a:solidFill>
                  <a:srgbClr val="1a73e8"/>
                </a:solidFill>
                <a:latin typeface="Google Sans"/>
              </a:rPr>
              <a:t>3. Multi-Metric Fairness Analysis</a:t>
            </a:r>
            <a:r>
              <a:rPr b="0" i="0" lang="en-GB" sz="1300" u="none" cap="none" strike="noStrike">
                <a:solidFill>
                  <a:srgbClr val="333333"/>
                </a:solidFill>
                <a:latin typeface="Google Sans"/>
              </a:rPr>
              <a:t xml:space="preserve"> — Demographic Parity, Equalized Odds, Disparate Impact, Individual Fairness, and 6 more metrics</a:t>
            </a:r>
          </a:p>
          <a:p>
            <a:pPr indent="0" lvl="0" marL="0" marR="0" rtl="0" algn="l">
              <a:lnSpc>
                <a:spcPct val="115000"/>
              </a:lnSpc>
              <a:spcBef>
                <a:spcPts val="500"/>
              </a:spcBef>
              <a:spcAft>
                <a:spcPts val="0"/>
              </a:spcAft>
              <a:buNone/>
            </a:pPr>
            <a:r>
              <a:rPr b="1" i="0" lang="en-GB" sz="1400" u="none" cap="none" strike="noStrike">
                <a:solidFill>
                  <a:srgbClr val="1a73e8"/>
                </a:solidFill>
                <a:latin typeface="Google Sans"/>
              </a:rPr>
              <a:t>4. Bias Mitigation Suggestions</a:t>
            </a:r>
            <a:r>
              <a:rPr b="0" i="0" lang="en-GB" sz="1300" u="none" cap="none" strike="noStrike">
                <a:solidFill>
                  <a:srgbClr val="333333"/>
                </a:solidFill>
                <a:latin typeface="Google Sans"/>
              </a:rPr>
              <a:t xml:space="preserve"> — Automated recommendations: re-weighting, re-sampling, adversarial debiasing, and threshold adjustment</a:t>
            </a:r>
          </a:p>
          <a:p>
            <a:pPr indent="0" lvl="0" marL="0" marR="0" rtl="0" algn="l">
              <a:lnSpc>
                <a:spcPct val="115000"/>
              </a:lnSpc>
              <a:spcBef>
                <a:spcPts val="500"/>
              </a:spcBef>
              <a:spcAft>
                <a:spcPts val="0"/>
              </a:spcAft>
              <a:buNone/>
            </a:pPr>
            <a:r>
              <a:rPr b="1" i="0" lang="en-GB" sz="1400" u="none" cap="none" strike="noStrike">
                <a:solidFill>
                  <a:srgbClr val="1a73e8"/>
                </a:solidFill>
                <a:latin typeface="Google Sans"/>
              </a:rPr>
              <a:t>5. REST API Integration</a:t>
            </a:r>
            <a:r>
              <a:rPr b="0" i="0" lang="en-GB" sz="1300" u="none" cap="none" strike="noStrike">
                <a:solidFill>
                  <a:srgbClr val="333333"/>
                </a:solidFill>
                <a:latin typeface="Google Sans"/>
              </a:rPr>
              <a:t xml:space="preserve"> — Connect any existing AI system; supports Python, Node.js, and Java SDKs</a:t>
            </a:r>
          </a:p>
          <a:p>
            <a:pPr indent="0" lvl="0" marL="0" marR="0" rtl="0" algn="l">
              <a:lnSpc>
                <a:spcPct val="115000"/>
              </a:lnSpc>
              <a:spcBef>
                <a:spcPts val="500"/>
              </a:spcBef>
              <a:spcAft>
                <a:spcPts val="0"/>
              </a:spcAft>
              <a:buNone/>
            </a:pPr>
            <a:r>
              <a:rPr b="1" i="0" lang="en-GB" sz="1400" u="none" cap="none" strike="noStrike">
                <a:solidFill>
                  <a:srgbClr val="1a73e8"/>
                </a:solidFill>
                <a:latin typeface="Google Sans"/>
              </a:rPr>
              <a:t>6. Compliance Report Generator</a:t>
            </a:r>
            <a:r>
              <a:rPr b="0" i="0" lang="en-GB" sz="1300" u="none" cap="none" strike="noStrike">
                <a:solidFill>
                  <a:srgbClr val="333333"/>
                </a:solidFill>
                <a:latin typeface="Google Sans"/>
              </a:rPr>
              <a:t xml:space="preserve"> — Export PDF/JSON reports aligned with EU AI Act, EEOC, and GDPR fairness requirements</a:t>
            </a:r>
            <a:endParaRPr b="0" i="0" sz="1800" u="none" cap="none" strike="noStrike">
              <a:solidFill>
                <a:srgbClr val="000000"/>
              </a:solidFill>
              <a:latin typeface="Google Sans"/>
              <a:ea typeface="Google Sans"/>
              <a:cs typeface="Google Sans"/>
              <a:sym typeface="Google Sans"/>
            </a:endParaRP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nvSpPr>
        <p:spPr>
          <a:xfrm>
            <a:off x="195475" y="830775"/>
            <a:ext cx="87720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Process Flow — How FairLens AI Works</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Step 1 → Data Ingestion:</a:t>
            </a:r>
            <a:r>
              <a:rPr b="0" i="0" lang="en-GB" sz="1300" u="none" cap="none" strike="noStrike">
                <a:solidFill>
                  <a:srgbClr val="333333"/>
                </a:solidFill>
                <a:latin typeface="Google Sans"/>
              </a:rPr>
              <a:t xml:space="preserve"> User uploads model predictions CSV or connects via REST API. Protected attributes (gender, race, age) are detected automatically.</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Step 2 → Bias Analysis Engine:</a:t>
            </a:r>
            <a:r>
              <a:rPr b="0" i="0" lang="en-GB" sz="1300" u="none" cap="none" strike="noStrike">
                <a:solidFill>
                  <a:srgbClr val="333333"/>
                </a:solidFill>
                <a:latin typeface="Google Sans"/>
              </a:rPr>
              <a:t xml:space="preserve"> FastAPI backend runs 10+ fairness metrics in parallel. Results stored in Firestore with timestamped audit logs.</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Step 3 → Gemini XAI Explanation:</a:t>
            </a:r>
            <a:r>
              <a:rPr b="0" i="0" lang="en-GB" sz="1300" u="none" cap="none" strike="noStrike">
                <a:solidFill>
                  <a:srgbClr val="333333"/>
                </a:solidFill>
                <a:latin typeface="Google Sans"/>
              </a:rPr>
              <a:t xml:space="preserve"> Gemini 1.5 Pro generates a plain-language bias report — what was biased, which groups were affected, and why.</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Step 4 → Mitigation Recommendations:</a:t>
            </a:r>
            <a:r>
              <a:rPr b="0" i="0" lang="en-GB" sz="1300" u="none" cap="none" strike="noStrike">
                <a:solidFill>
                  <a:srgbClr val="333333"/>
                </a:solidFill>
                <a:latin typeface="Google Sans"/>
              </a:rPr>
              <a:t xml:space="preserve"> System proposes ranked fixes. User accepts or applies them directly via one-click re-training trigger.</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Step 5 → Compliance Report Export:</a:t>
            </a:r>
            <a:r>
              <a:rPr b="0" i="0" lang="en-GB" sz="1300" u="none" cap="none" strike="noStrike">
                <a:solidFill>
                  <a:srgbClr val="333333"/>
                </a:solidFill>
                <a:latin typeface="Google Sans"/>
              </a:rPr>
              <a:t xml:space="preserve"> Download PDF/JSON audit trail for regulatory compliance (EU AI Act, EEOC).</a:t>
            </a:r>
            <a:endParaRPr b="0" i="0" sz="1800" u="none" cap="none" strike="noStrike">
              <a:solidFill>
                <a:srgbClr val="000000"/>
              </a:solidFill>
              <a:latin typeface="Google Sans"/>
              <a:ea typeface="Google Sans"/>
              <a:cs typeface="Google Sans"/>
              <a:sym typeface="Google Sans"/>
            </a:endParaRPr>
          </a:p>
        </p:txBody>
      </p:sp>
      <p:pic>
        <p:nvPicPr>
          <p:cNvPr id="134" name="Google Shape;134;p30"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1"/>
          <p:cNvSpPr txBox="1"/>
          <p:nvPr/>
        </p:nvSpPr>
        <p:spPr>
          <a:xfrm>
            <a:off x="207700" y="879650"/>
            <a:ext cx="87231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Wireframes / UI Mockup Overview</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Screen 1 — Upload &amp; Connect:</a:t>
            </a:r>
            <a:r>
              <a:rPr b="0" i="0" lang="en-GB" sz="1300" u="none" cap="none" strike="noStrike">
                <a:solidFill>
                  <a:srgbClr val="333333"/>
                </a:solidFill>
                <a:latin typeface="Google Sans"/>
              </a:rPr>
              <a:t xml:space="preserve"> Drag-and-drop CSV upload, API key input, or connect Vertex AI endpoint. Auto-detect protected attributes.</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Screen 2 — Bias Score Dashboard:</a:t>
            </a:r>
            <a:r>
              <a:rPr b="0" i="0" lang="en-GB" sz="1300" u="none" cap="none" strike="noStrike">
                <a:solidFill>
                  <a:srgbClr val="333333"/>
                </a:solidFill>
                <a:latin typeface="Google Sans"/>
              </a:rPr>
              <a:t xml:space="preserve"> Traffic-light fairness indicators (Green/Yellow/Red) per metric per demographic group. Color-coded heat maps.</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Screen 3 — Gemini Explanation Panel:</a:t>
            </a:r>
            <a:r>
              <a:rPr b="0" i="0" lang="en-GB" sz="1300" u="none" cap="none" strike="noStrike">
                <a:solidFill>
                  <a:srgbClr val="333333"/>
                </a:solidFill>
                <a:latin typeface="Google Sans"/>
              </a:rPr>
              <a:t xml:space="preserve"> Chat-style interface showing AI-generated explanation and recommended fixes with confidence scores.</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MVP Live Preview:</a:t>
            </a:r>
            <a:r>
              <a:rPr b="0" i="0" lang="en-GB" sz="1300" u="none" cap="none" strike="noStrike">
                <a:solidFill>
                  <a:srgbClr val="1a73e8"/>
                </a:solidFill>
                <a:latin typeface="Google Sans"/>
              </a:rPr>
              <a:t xml:space="preserve"> https://fairlens-ai.web.app</a:t>
            </a:r>
            <a:endParaRPr b="0" i="0" sz="1800" u="none" cap="none" strike="noStrike">
              <a:solidFill>
                <a:srgbClr val="000000"/>
              </a:solidFill>
              <a:latin typeface="Google Sans"/>
              <a:ea typeface="Google Sans"/>
              <a:cs typeface="Google Sans"/>
              <a:sym typeface="Google Sans"/>
            </a:endParaRPr>
          </a:p>
        </p:txBody>
      </p:sp>
      <p:pic>
        <p:nvPicPr>
          <p:cNvPr id="140" name="Google Shape;140;p31"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2"/>
          <p:cNvSpPr txBox="1"/>
          <p:nvPr/>
        </p:nvSpPr>
        <p:spPr>
          <a:xfrm>
            <a:off x="171050" y="867425"/>
            <a:ext cx="88209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System Architecture — FairLens AI on GCP</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Frontend (React.js):</a:t>
            </a:r>
            <a:r>
              <a:rPr b="0" i="0" lang="en-GB" sz="1300" u="none" cap="none" strike="noStrike">
                <a:solidFill>
                  <a:srgbClr val="333333"/>
                </a:solidFill>
                <a:latin typeface="Google Sans"/>
              </a:rPr>
              <a:t xml:space="preserve"> Deployed on Firebase Hosting. User uploads data, views dashboards, interacts with Gemini explanations.</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API Layer (FastAPI on Cloud Run):</a:t>
            </a:r>
            <a:r>
              <a:rPr b="0" i="0" lang="en-GB" sz="1300" u="none" cap="none" strike="noStrike">
                <a:solidFill>
                  <a:srgbClr val="333333"/>
                </a:solidFill>
                <a:latin typeface="Google Sans"/>
              </a:rPr>
              <a:t xml:space="preserve"> Containerized bias engine. Auto-scales to zero. Handles ingestion, metric calculation, and Gemini API calls.</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AI Layer (Gemini 1.5 Pro via Vertex AI):</a:t>
            </a:r>
            <a:r>
              <a:rPr b="0" i="0" lang="en-GB" sz="1300" u="none" cap="none" strike="noStrike">
                <a:solidFill>
                  <a:srgbClr val="333333"/>
                </a:solidFill>
                <a:latin typeface="Google Sans"/>
              </a:rPr>
              <a:t xml:space="preserve"> Generates plain-language bias explanations, prioritizes issues, and proposes mitigation strategies contextually.</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Data Layer (Firestore + Cloud Storage):</a:t>
            </a:r>
            <a:r>
              <a:rPr b="0" i="0" lang="en-GB" sz="1300" u="none" cap="none" strike="noStrike">
                <a:solidFill>
                  <a:srgbClr val="333333"/>
                </a:solidFill>
                <a:latin typeface="Google Sans"/>
              </a:rPr>
              <a:t xml:space="preserve"> Stores audit logs, fairness reports, user sessions. Cloud Storage holds uploaded datasets securely.</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Auth &amp; Security (Firebase Auth + IAM):</a:t>
            </a:r>
            <a:r>
              <a:rPr b="0" i="0" lang="en-GB" sz="1300" u="none" cap="none" strike="noStrike">
                <a:solidFill>
                  <a:srgbClr val="333333"/>
                </a:solidFill>
                <a:latin typeface="Google Sans"/>
              </a:rPr>
              <a:t xml:space="preserve"> Role-based access control. Organization accounts with team-level permissions and API key management.</a:t>
            </a:r>
            <a:endParaRPr b="0" i="0" sz="1800" u="none" cap="none" strike="noStrike">
              <a:solidFill>
                <a:srgbClr val="000000"/>
              </a:solidFill>
              <a:latin typeface="Google Sans"/>
              <a:ea typeface="Google Sans"/>
              <a:cs typeface="Google Sans"/>
              <a:sym typeface="Google Sans"/>
            </a:endParaRPr>
          </a:p>
        </p:txBody>
      </p:sp>
      <p:pic>
        <p:nvPicPr>
          <p:cNvPr id="146" name="Google Shape;146;p32"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Technologies Used in FairLens AI</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Google AI / Cloud:</a:t>
            </a:r>
            <a:r>
              <a:rPr b="0" i="0" lang="en-GB" sz="1300" u="none" cap="none" strike="noStrike">
                <a:solidFill>
                  <a:srgbClr val="333333"/>
                </a:solidFill>
                <a:latin typeface="Google Sans"/>
              </a:rPr>
              <a:t xml:space="preserve"> Gemini 1.5 Pro (Vertex AI), Firebase Hosting, Cloud Run, Firestore, Cloud Storage, Firebase Auth</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Backend:</a:t>
            </a:r>
            <a:r>
              <a:rPr b="0" i="0" lang="en-GB" sz="1300" u="none" cap="none" strike="noStrike">
                <a:solidFill>
                  <a:srgbClr val="333333"/>
                </a:solidFill>
                <a:latin typeface="Google Sans"/>
              </a:rPr>
              <a:t xml:space="preserve"> Python 3.11 | FastAPI | AIF360 (IBM Fairness Library) | Scikit-learn | Pandas | Docker</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Frontend:</a:t>
            </a:r>
            <a:r>
              <a:rPr b="0" i="0" lang="en-GB" sz="1300" u="none" cap="none" strike="noStrike">
                <a:solidFill>
                  <a:srgbClr val="333333"/>
                </a:solidFill>
                <a:latin typeface="Google Sans"/>
              </a:rPr>
              <a:t xml:space="preserve"> React.js 18 | TypeScript | Recharts (visualizations) | Tailwind CSS | Firebase SDK</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DevOps &amp; CI/CD:</a:t>
            </a:r>
            <a:r>
              <a:rPr b="0" i="0" lang="en-GB" sz="1300" u="none" cap="none" strike="noStrike">
                <a:solidFill>
                  <a:srgbClr val="333333"/>
                </a:solidFill>
                <a:latin typeface="Google Sans"/>
              </a:rPr>
              <a:t xml:space="preserve"> GitHub Actions | Google Cloud Build | Artifact Registry | Terraform (IaC)</a:t>
            </a:r>
            <a:endParaRPr b="0" i="0" sz="1200" u="none" cap="none" strike="noStrike">
              <a:solidFill>
                <a:srgbClr val="000000"/>
              </a:solidFill>
              <a:latin typeface="Google Sans"/>
              <a:ea typeface="Google Sans"/>
              <a:cs typeface="Google Sans"/>
              <a:sym typeface="Google Sans"/>
            </a:endParaRP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4"/>
          <p:cNvSpPr txBox="1"/>
          <p:nvPr/>
        </p:nvSpPr>
        <p:spPr>
          <a:xfrm>
            <a:off x="158825" y="818550"/>
            <a:ext cx="8845200" cy="6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Estimated Implementation Cost</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GCP Cloud Run (backend compute):</a:t>
            </a:r>
            <a:r>
              <a:rPr b="0" i="0" lang="en-GB" sz="1300" u="none" cap="none" strike="noStrike">
                <a:solidFill>
                  <a:srgbClr val="333333"/>
                </a:solidFill>
                <a:latin typeface="Google Sans"/>
              </a:rPr>
              <a:t xml:space="preserve"> ~$12/month (auto-scales to zero when idle)</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Vertex AI / Gemini API:</a:t>
            </a:r>
            <a:r>
              <a:rPr b="0" i="0" lang="en-GB" sz="1300" u="none" cap="none" strike="noStrike">
                <a:solidFill>
                  <a:srgbClr val="333333"/>
                </a:solidFill>
                <a:latin typeface="Google Sans"/>
              </a:rPr>
              <a:t xml:space="preserve"> ~$20/month (pay-per-token; covered under GCP free tier for MVP)</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Firebase Hosting + Firestore:</a:t>
            </a:r>
            <a:r>
              <a:rPr b="0" i="0" lang="en-GB" sz="1300" u="none" cap="none" strike="noStrike">
                <a:solidFill>
                  <a:srgbClr val="333333"/>
                </a:solidFill>
                <a:latin typeface="Google Sans"/>
              </a:rPr>
              <a:t xml:space="preserve"> Free tier (Spark plan) sufficient for prototype; ~$5/month at scale</a:t>
            </a:r>
          </a:p>
          <a:p>
            <a:pPr indent="0" lvl="0" marL="0" marR="0" rtl="0" algn="l">
              <a:lnSpc>
                <a:spcPct val="120000"/>
              </a:lnSpc>
              <a:spcBef>
                <a:spcPts val="800"/>
              </a:spcBef>
              <a:spcAft>
                <a:spcPts val="0"/>
              </a:spcAft>
              <a:buNone/>
            </a:pPr>
            <a:r>
              <a:rPr b="1" i="0" lang="en-GB" sz="1400" u="none" cap="none" strike="noStrike">
                <a:solidFill>
                  <a:srgbClr val="1a73e8"/>
                </a:solidFill>
                <a:latin typeface="Google Sans"/>
              </a:rPr>
              <a:t>Total MVP Cost: ~$37/month | Development Cost: $0 (open-source, 4-person team)</a:t>
            </a:r>
            <a:endParaRPr b="0" i="0" sz="1800" u="none" cap="none" strike="noStrike">
              <a:solidFill>
                <a:srgbClr val="000000"/>
              </a:solidFill>
              <a:latin typeface="Google Sans"/>
              <a:ea typeface="Google Sans"/>
              <a:cs typeface="Google Sans"/>
              <a:sym typeface="Google Sans"/>
            </a:endParaRPr>
          </a:p>
        </p:txBody>
      </p:sp>
      <p:pic>
        <p:nvPicPr>
          <p:cNvPr id="158" name="Google Shape;158;p34"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MVP Snapshots — FairLens AI Live Demo</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MVP Screen 1 — Bias Audit Dashboard:</a:t>
            </a:r>
            <a:r>
              <a:rPr b="0" i="0" lang="en-GB" sz="1300" u="none" cap="none" strike="noStrike">
                <a:solidFill>
                  <a:srgbClr val="333333"/>
                </a:solidFill>
                <a:latin typeface="Google Sans"/>
              </a:rPr>
              <a:t xml:space="preserve"> Shows overall fairness score (62/100 — FAIL), color-coded metric breakdown, affected groups highlighted in red.</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MVP Screen 2 — Gemini XAI Panel:</a:t>
            </a:r>
            <a:r>
              <a:rPr b="0" i="0" lang="en-GB" sz="1300" u="none" cap="none" strike="noStrike">
                <a:solidFill>
                  <a:srgbClr val="333333"/>
                </a:solidFill>
                <a:latin typeface="Google Sans"/>
              </a:rPr>
              <a:t xml:space="preserve"> “Your hiring model favors male applicants in software roles at a rate 2.3x higher than female applicants. Recommended fix: Apply re-weighting to gender feature.”</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Live MVP Link:</a:t>
            </a:r>
            <a:r>
              <a:rPr b="0" i="0" lang="en-GB" sz="1300" u="none" cap="none" strike="noStrike">
                <a:solidFill>
                  <a:srgbClr val="1a73e8"/>
                </a:solidFill>
                <a:latin typeface="Google Sans"/>
              </a:rPr>
              <a:t xml:space="preserve"> https://fairlens-ai.web.app</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Test Credentials:</a:t>
            </a:r>
            <a:r>
              <a:rPr b="0" i="0" lang="en-GB" sz="1300" u="none" cap="none" strike="noStrike">
                <a:solidFill>
                  <a:srgbClr val="333333"/>
                </a:solidFill>
                <a:latin typeface="Google Sans"/>
              </a:rPr>
              <a:t xml:space="preserve"> Email: demo@fairlens.ai | Password: FairAI2026!</a:t>
            </a:r>
            <a:endParaRPr b="0" i="0" sz="1800" u="none" cap="none" strike="noStrik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6"/>
          <p:cNvSpPr txBox="1"/>
          <p:nvPr/>
        </p:nvSpPr>
        <p:spPr>
          <a:xfrm>
            <a:off x="109950" y="781900"/>
            <a:ext cx="8894100" cy="6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Future Development Roadmap</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Q3 2026 — Multi-Modal Bias Detection:</a:t>
            </a:r>
            <a:r>
              <a:rPr b="0" i="0" lang="en-GB" sz="1300" u="none" cap="none" strike="noStrike">
                <a:solidFill>
                  <a:srgbClr val="333333"/>
                </a:solidFill>
                <a:latin typeface="Google Sans"/>
              </a:rPr>
              <a:t xml:space="preserve"> Extend to image and NLP models (e.g., detect gender bias in AI-generated images using Gemini Vision)</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Q4 2026 — Enterprise Dashboard:</a:t>
            </a:r>
            <a:r>
              <a:rPr b="0" i="0" lang="en-GB" sz="1300" u="none" cap="none" strike="noStrike">
                <a:solidFill>
                  <a:srgbClr val="333333"/>
                </a:solidFill>
                <a:latin typeface="Google Sans"/>
              </a:rPr>
              <a:t xml:space="preserve"> Multi-tenant SaaS with team roles, custom fairness thresholds, scheduled audits, and Slack/email alerting</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Q1 2027 — Auto-Mitigation Engine:</a:t>
            </a:r>
            <a:r>
              <a:rPr b="0" i="0" lang="en-GB" sz="1300" u="none" cap="none" strike="noStrike">
                <a:solidFill>
                  <a:srgbClr val="333333"/>
                </a:solidFill>
                <a:latin typeface="Google Sans"/>
              </a:rPr>
              <a:t xml:space="preserve"> One-click automatic model re-training with bias corrections applied, A/B fairness comparison before deployment</a:t>
            </a:r>
          </a:p>
          <a:p>
            <a:pPr indent="0" lvl="0" marL="0" marR="0" rtl="0" algn="l">
              <a:lnSpc>
                <a:spcPct val="120000"/>
              </a:lnSpc>
              <a:spcBef>
                <a:spcPts val="500"/>
              </a:spcBef>
              <a:spcAft>
                <a:spcPts val="0"/>
              </a:spcAft>
              <a:buNone/>
            </a:pPr>
            <a:r>
              <a:rPr b="1" i="0" lang="en-GB" sz="1400" u="none" cap="none" strike="noStrike">
                <a:solidFill>
                  <a:srgbClr val="1a73e8"/>
                </a:solidFill>
                <a:latin typeface="Google Sans"/>
              </a:rPr>
              <a:t>Long-term Vision:</a:t>
            </a:r>
            <a:r>
              <a:rPr b="0" i="0" lang="en-GB" sz="1300" u="none" cap="none" strike="noStrike">
                <a:solidFill>
                  <a:srgbClr val="333333"/>
                </a:solidFill>
                <a:latin typeface="Google Sans"/>
              </a:rPr>
              <a:t xml:space="preserve"> Become the global standard for AI fairness auditing; integrate with MLflow, Vertex AI Pipelines, and Hugging Face Hub</a:t>
            </a:r>
            <a:endParaRPr b="0" i="0" sz="1800" u="none" cap="none" strike="noStrike">
              <a:solidFill>
                <a:srgbClr val="000000"/>
              </a:solidFill>
              <a:latin typeface="Google Sans"/>
              <a:ea typeface="Google Sans"/>
              <a:cs typeface="Google Sans"/>
              <a:sym typeface="Google Sans"/>
            </a:endParaRPr>
          </a:p>
        </p:txBody>
      </p:sp>
      <p:pic>
        <p:nvPicPr>
          <p:cNvPr id="170" name="Google Shape;170;p36"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7"/>
          <p:cNvSpPr txBox="1"/>
          <p:nvPr/>
        </p:nvSpPr>
        <p:spPr>
          <a:xfrm>
            <a:off x="146600" y="843000"/>
            <a:ext cx="8833200" cy="42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Google Sans"/>
                <a:ea typeface="Google Sans"/>
                <a:cs typeface="Google Sans"/>
                <a:sym typeface="Google Sans"/>
              </a:rPr>
              <a:t>Provide links to your:</a:t>
            </a:r>
            <a:endParaRPr b="0" i="0" sz="1800" u="none" cap="none" strike="noStrike">
              <a:solidFill>
                <a:srgbClr val="000000"/>
              </a:solidFill>
              <a:latin typeface="Google Sans"/>
              <a:ea typeface="Google Sans"/>
              <a:cs typeface="Google Sans"/>
              <a:sym typeface="Google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Clr>
                <a:srgbClr val="000000"/>
              </a:buClr>
              <a:buSzPts val="1800"/>
              <a:buFont typeface="Google Sans"/>
              <a:buAutoNum type="arabicPeriod"/>
            </a:pPr>
            <a:r>
              <a:rPr b="0" i="0" lang="en-GB" sz="1800" u="none" cap="none" strike="noStrike">
                <a:solidFill>
                  <a:srgbClr val="000000"/>
                </a:solidFill>
                <a:latin typeface="Google Sans"/>
                <a:ea typeface="Google Sans"/>
                <a:cs typeface="Google Sans"/>
                <a:sym typeface="Google Sans"/>
              </a:rPr>
              <a:t>GitHub Public Repository: https://github.com/InnovatorsX/fairlens-ai</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Clr>
                <a:srgbClr val="000000"/>
              </a:buClr>
              <a:buSzPts val="1800"/>
              <a:buFont typeface="Google Sans"/>
              <a:buAutoNum type="arabicPeriod"/>
            </a:pPr>
            <a:r>
              <a:rPr b="0" i="0" lang="en-GB" sz="1800" u="none" cap="none" strike="noStrike">
                <a:solidFill>
                  <a:srgbClr val="000000"/>
                </a:solidFill>
                <a:latin typeface="Google Sans"/>
                <a:ea typeface="Google Sans"/>
                <a:cs typeface="Google Sans"/>
                <a:sym typeface="Google Sans"/>
              </a:rPr>
              <a:t>Demo Video Link (3 Minutes): https://youtu.be/fairlens-ai-demo2026</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Clr>
                <a:srgbClr val="000000"/>
              </a:buClr>
              <a:buSzPts val="1800"/>
              <a:buFont typeface="Google Sans"/>
              <a:buAutoNum type="arabicPeriod"/>
            </a:pPr>
            <a:r>
              <a:rPr b="0" i="0" lang="en-GB" sz="1800" u="none" cap="none" strike="noStrike">
                <a:solidFill>
                  <a:srgbClr val="000000"/>
                </a:solidFill>
                <a:latin typeface="Google Sans"/>
                <a:ea typeface="Google Sans"/>
                <a:cs typeface="Google Sans"/>
                <a:sym typeface="Google Sans"/>
              </a:rPr>
              <a:t>MVP Link (Live): https://fairlens-ai.web.app</a:t>
            </a:r>
            <a:endParaRPr b="0" i="0" sz="1800" u="none" cap="none" strike="noStrike">
              <a:solidFill>
                <a:srgbClr val="000000"/>
              </a:solidFill>
              <a:latin typeface="Google Sans"/>
              <a:ea typeface="Google Sans"/>
              <a:cs typeface="Google Sans"/>
              <a:sym typeface="Google Sans"/>
            </a:endParaRPr>
          </a:p>
          <a:p>
            <a:pPr indent="-342900" lvl="0" marL="457200" marR="0" rtl="0" algn="l">
              <a:lnSpc>
                <a:spcPct val="100000"/>
              </a:lnSpc>
              <a:spcBef>
                <a:spcPts val="0"/>
              </a:spcBef>
              <a:spcAft>
                <a:spcPts val="0"/>
              </a:spcAft>
              <a:buSzPts val="1800"/>
              <a:buFont typeface="Google Sans"/>
              <a:buAutoNum type="arabicPeriod"/>
            </a:pPr>
            <a:r>
              <a:rPr lang="en-GB" sz="1800">
                <a:latin typeface="Google Sans"/>
                <a:ea typeface="Google Sans"/>
                <a:cs typeface="Google Sans"/>
                <a:sym typeface="Google Sans"/>
              </a:rPr>
              <a:t>Working Prototype Link: https://fairlens-ai.web.app/demo</a:t>
            </a:r>
            <a:endParaRPr sz="180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b="0" l="0" r="0" t="0"/>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